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aven Pro"/>
      <p:bold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ee33ae950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ee33ae950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ee33ae950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ee33ae950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e33ae950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ee33ae950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ee33ae950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ee33ae950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ee33ae950_0_1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ee33ae950_0_1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e33ae950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ee33ae950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ee33ae950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ee33ae950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ee33ae950_0_3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ee33ae950_0_3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ee33ae950_0_3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ee33ae950_0_3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ee33ae950_0_3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ee33ae950_0_3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ee33ae950_0_3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ee33ae950_0_3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ee33ae950_0_3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ee33ae950_0_3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3eee33ae950_6_0)">
  <p:cSld name="Title slide (g3eee33ae950_6_0)">
    <p:bg>
      <p:bgPr>
        <a:solidFill>
          <a:schemeClr val="accent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991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4"/>
          <p:cNvGrpSpPr/>
          <p:nvPr/>
        </p:nvGrpSpPr>
        <p:grpSpPr>
          <a:xfrm>
            <a:off x="6662738" y="2852738"/>
            <a:ext cx="2481300" cy="2290800"/>
            <a:chOff x="6662738" y="2852738"/>
            <a:chExt cx="2481300" cy="2290800"/>
          </a:xfrm>
        </p:grpSpPr>
        <p:pic>
          <p:nvPicPr>
            <p:cNvPr id="134" name="Google Shape;13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0" y="3810000"/>
              <a:ext cx="1524000" cy="133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34225" y="3324225"/>
              <a:ext cx="2009700" cy="18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2738" y="2852738"/>
              <a:ext cx="2481300" cy="2290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4"/>
          <p:cNvSpPr txBox="1"/>
          <p:nvPr>
            <p:ph type="ctrTitle"/>
          </p:nvPr>
        </p:nvSpPr>
        <p:spPr>
          <a:xfrm>
            <a:off x="683175" y="988225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5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Mutual Fund Analytics Capstone Project</a:t>
            </a:r>
            <a:endParaRPr b="1" sz="3255"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38" name="Google Shape;138;p14"/>
          <p:cNvGrpSpPr/>
          <p:nvPr/>
        </p:nvGrpSpPr>
        <p:grpSpPr>
          <a:xfrm>
            <a:off x="571500" y="2085650"/>
            <a:ext cx="8112675" cy="571500"/>
            <a:chOff x="0" y="656900"/>
            <a:chExt cx="8112675" cy="571500"/>
          </a:xfrm>
        </p:grpSpPr>
        <p:sp>
          <p:nvSpPr>
            <p:cNvPr id="139" name="Google Shape;139;p14"/>
            <p:cNvSpPr/>
            <p:nvPr/>
          </p:nvSpPr>
          <p:spPr>
            <a:xfrm>
              <a:off x="111675" y="656900"/>
              <a:ext cx="8001000" cy="571500"/>
            </a:xfrm>
            <a:prstGeom prst="roundRect">
              <a:avLst>
                <a:gd fmla="val 666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0" y="6569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End-to-End Data Analytics Solution for Mutual Fund Performance, Investor Behaviour &amp; Risk Analytics</a:t>
              </a:r>
              <a:endParaRPr b="0" sz="14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1" name="Google Shape;141;p14"/>
          <p:cNvGrpSpPr/>
          <p:nvPr/>
        </p:nvGrpSpPr>
        <p:grpSpPr>
          <a:xfrm>
            <a:off x="650325" y="2824650"/>
            <a:ext cx="8001000" cy="1714500"/>
            <a:chOff x="0" y="0"/>
            <a:chExt cx="8001000" cy="1714500"/>
          </a:xfrm>
        </p:grpSpPr>
        <p:grpSp>
          <p:nvGrpSpPr>
            <p:cNvPr id="142" name="Google Shape;142;p14"/>
            <p:cNvGrpSpPr/>
            <p:nvPr/>
          </p:nvGrpSpPr>
          <p:grpSpPr>
            <a:xfrm>
              <a:off x="0" y="0"/>
              <a:ext cx="3810000" cy="1714500"/>
              <a:chOff x="0" y="0"/>
              <a:chExt cx="3810000" cy="1714500"/>
            </a:xfrm>
          </p:grpSpPr>
          <p:sp>
            <p:nvSpPr>
              <p:cNvPr id="143" name="Google Shape;143;p14"/>
              <p:cNvSpPr/>
              <p:nvPr/>
            </p:nvSpPr>
            <p:spPr>
              <a:xfrm>
                <a:off x="0" y="0"/>
                <a:ext cx="3810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4"/>
              <p:cNvSpPr txBox="1"/>
              <p:nvPr/>
            </p:nvSpPr>
            <p:spPr>
              <a:xfrm>
                <a:off x="190500" y="190500"/>
                <a:ext cx="3429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Project Details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Submitted By:</a:t>
                </a:r>
                <a:r>
                  <a:rPr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Manish Kumar</a:t>
                </a:r>
                <a:endParaRPr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Team:</a:t>
                </a:r>
                <a:r>
                  <a:rPr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239FMBF</a:t>
                </a:r>
                <a:endParaRPr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Internship:</a:t>
                </a:r>
                <a:r>
                  <a:rPr lang="en" sz="12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Data Analytics Internship – Bluestock.in</a:t>
                </a:r>
                <a:endParaRPr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5" name="Google Shape;145;p14"/>
            <p:cNvGrpSpPr/>
            <p:nvPr/>
          </p:nvGrpSpPr>
          <p:grpSpPr>
            <a:xfrm>
              <a:off x="4191000" y="0"/>
              <a:ext cx="3810000" cy="1714500"/>
              <a:chOff x="0" y="0"/>
              <a:chExt cx="3810000" cy="1714500"/>
            </a:xfrm>
          </p:grpSpPr>
          <p:sp>
            <p:nvSpPr>
              <p:cNvPr id="146" name="Google Shape;146;p14"/>
              <p:cNvSpPr/>
              <p:nvPr/>
            </p:nvSpPr>
            <p:spPr>
              <a:xfrm>
                <a:off x="0" y="0"/>
                <a:ext cx="3810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4"/>
              <p:cNvSpPr txBox="1"/>
              <p:nvPr/>
            </p:nvSpPr>
            <p:spPr>
              <a:xfrm>
                <a:off x="190500" y="190500"/>
                <a:ext cx="3429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Tech Stack &amp; Tools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</a:t>
                </a: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uild </a:t>
                </a:r>
                <a:r>
                  <a:rPr b="0" lang="en" sz="1200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Python, Pandas, SQLite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bar_char</a:t>
                </a: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</a:t>
                </a:r>
                <a:r>
                  <a:rPr b="0" lang="en" sz="1200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Power BI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</a:t>
                </a:r>
                <a:r>
                  <a:rPr lang="en" sz="18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ode </a:t>
                </a:r>
                <a:r>
                  <a:rPr b="0" lang="en" sz="1200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GitHub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48" name="Google Shape;148;p14" title="download (4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4775" y="76200"/>
            <a:ext cx="57150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925125" y="417125"/>
            <a:ext cx="70305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Problem Statement &amp; Objectives </a:t>
            </a:r>
            <a:endParaRPr sz="2900"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1056750" y="1066675"/>
            <a:ext cx="7218000" cy="3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SzPts val="688"/>
              <a:buNone/>
            </a:pPr>
            <a:r>
              <a:rPr b="1" lang="en" sz="15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156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Mutual fund data is spread across multiple sources, making it difficult to evaluate fund performance, investor behaviour, and portfolio risk through a unified analytical framework.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SzPts val="688"/>
              <a:buNone/>
            </a:pPr>
            <a:r>
              <a:rPr b="1" lang="en" sz="15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1" sz="156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Build an end-to-end ETL pipeline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Perform exploratory data analysis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Evaluate mutual fund performance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Conduct advanced risk analytics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Develop interactive Power BI dashboards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Generate actionable investment insights</a:t>
            </a:r>
            <a:endParaRPr sz="9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81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783125" y="346150"/>
            <a:ext cx="2693100" cy="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Data Sources </a:t>
            </a:r>
            <a:endParaRPr sz="2900"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901450" y="1037200"/>
            <a:ext cx="3602400" cy="3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" sz="1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 Used</a:t>
            </a:r>
            <a:endParaRPr b="1" sz="14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Fund Master Dataset (40 Schemes)                                                      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Historical NAV Dataset (~46,000 Records)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Investor Transactions Dataset (32,778 Records)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Portfolio Holdings Dataset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" sz="1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</a:t>
            </a:r>
            <a:endParaRPr b="1" sz="14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• Pandas • SQLite • Power BI • GitHub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910"/>
          </a:p>
        </p:txBody>
      </p:sp>
      <p:sp>
        <p:nvSpPr>
          <p:cNvPr id="161" name="Google Shape;161;p16"/>
          <p:cNvSpPr txBox="1"/>
          <p:nvPr/>
        </p:nvSpPr>
        <p:spPr>
          <a:xfrm>
            <a:off x="4464400" y="1191200"/>
            <a:ext cx="3000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70"/>
              <a:t>• AUM Dataset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70"/>
              <a:t>• SIP Inflow Dataset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70"/>
              <a:t>• Category Inflow Dataset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70"/>
              <a:t>• Benchmark Indices Dataset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70"/>
              <a:t>• Live NAV Dataset (~19,792 Records)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819150" y="416150"/>
            <a:ext cx="32583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Architecture </a:t>
            </a:r>
            <a:endParaRPr/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819150" y="1136950"/>
            <a:ext cx="37527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69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Pipeline Workflow</a:t>
            </a:r>
            <a:endParaRPr b="1" sz="69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Data Sources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 &amp; Validation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 Database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Analytics Layer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BI Dashboard</a:t>
            </a:r>
            <a:endParaRPr sz="35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638600" y="1184275"/>
            <a:ext cx="30000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ETL Features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Missing value handling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Duplicate removal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Data quality validation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Live NAV integration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• Centralized database storage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481575" y="323725"/>
            <a:ext cx="57348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Highlights (Investor Analysis) 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481575" y="975900"/>
            <a:ext cx="3598200" cy="31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Investor Demographic Analysis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Investor Age Distribution                                  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18" title="output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75" y="1835975"/>
            <a:ext cx="2517300" cy="25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16375" y="1435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• </a:t>
            </a:r>
            <a:r>
              <a:rPr lang="en" sz="1100"/>
              <a:t>Investment Amount by Age Group</a:t>
            </a:r>
            <a:r>
              <a:rPr lang="en"/>
              <a:t> </a:t>
            </a:r>
            <a:endParaRPr/>
          </a:p>
        </p:txBody>
      </p:sp>
      <p:pic>
        <p:nvPicPr>
          <p:cNvPr id="177" name="Google Shape;177;p18" title="output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2150" y="1977125"/>
            <a:ext cx="3377800" cy="22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349950" y="1435775"/>
            <a:ext cx="25173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Working-age investors contributed the highest investment activity.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Investment participation was concentrated in middle-age groups.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• Higher investment amounts were observed among established earning segments.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762700" y="309375"/>
            <a:ext cx="65190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Highlights (Fund Flow Analysis) 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819150" y="924675"/>
            <a:ext cx="3753000" cy="23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• Category Inflows </a:t>
            </a:r>
            <a:endParaRPr sz="1400"/>
          </a:p>
        </p:txBody>
      </p:sp>
      <p:pic>
        <p:nvPicPr>
          <p:cNvPr id="185" name="Google Shape;185;p19" title="output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359850"/>
            <a:ext cx="3710974" cy="18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360325" y="959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• Monthly SIP Trends</a:t>
            </a:r>
            <a:r>
              <a:rPr lang="en"/>
              <a:t> </a:t>
            </a:r>
            <a:endParaRPr/>
          </a:p>
        </p:txBody>
      </p:sp>
      <p:pic>
        <p:nvPicPr>
          <p:cNvPr id="187" name="Google Shape;187;p19" title="output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750" y="1287600"/>
            <a:ext cx="3984224" cy="18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19150" y="3331900"/>
            <a:ext cx="71385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Equity-oriented categories attracted the highest inflows.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SIP contributions showed consistent growth patterns.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• Investors preferred long-term wealth creation products.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819150" y="348625"/>
            <a:ext cx="43293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Analytics </a:t>
            </a:r>
            <a:endParaRPr/>
          </a:p>
        </p:txBody>
      </p:sp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791525" y="978275"/>
            <a:ext cx="1382400" cy="28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 Calculated</a:t>
            </a:r>
            <a:endParaRPr b="1" sz="5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CAGR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Sharpe Ratio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Sortino Ratio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Alpha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Beta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Maximum Drawdown</a:t>
            </a:r>
            <a:endParaRPr sz="49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338325" y="1019700"/>
            <a:ext cx="29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Top Funds by CAGR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96" name="Google Shape;196;p20" title="top_cag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150" y="1457900"/>
            <a:ext cx="3292477" cy="240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520925" y="1019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Top Funds by Sharpe Ratio </a:t>
            </a:r>
            <a:endParaRPr/>
          </a:p>
        </p:txBody>
      </p:sp>
      <p:pic>
        <p:nvPicPr>
          <p:cNvPr id="198" name="Google Shape;198;p20" title="top_sharpe_rat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975" y="1470025"/>
            <a:ext cx="3417477" cy="239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91525" y="3937450"/>
            <a:ext cx="62724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Top-performing funds achieved superior risk-adjusted returns rather than simply higher returns.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819150" y="426150"/>
            <a:ext cx="4624500" cy="6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Risk Analytics 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819150" y="998600"/>
            <a:ext cx="22038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Analytics Performed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Value at Risk (VaR 95%)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Conditional VaR (CVaR 95%)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Rolling 90-Day Sharpe Ratio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44500" y="2437600"/>
            <a:ext cx="24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VaR/CVaR Analysis </a:t>
            </a:r>
            <a:endParaRPr/>
          </a:p>
        </p:txBody>
      </p:sp>
      <p:pic>
        <p:nvPicPr>
          <p:cNvPr id="207" name="Google Shape;207;p21" title="Screenshot 2026-06-12 0126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025" y="2882625"/>
            <a:ext cx="2569125" cy="18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3022950" y="2437600"/>
            <a:ext cx="24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Rolling Sharpe Ratio Trend </a:t>
            </a:r>
            <a:endParaRPr/>
          </a:p>
        </p:txBody>
      </p:sp>
      <p:pic>
        <p:nvPicPr>
          <p:cNvPr id="209" name="Google Shape;209;p21" title="f08208e5-4990-492c-a459-7e686262830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250" y="2737700"/>
            <a:ext cx="5507924" cy="218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3227575" y="998600"/>
            <a:ext cx="54135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Risk exposure varied significantly across schemes despite similar return profiles.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663888" y="332475"/>
            <a:ext cx="78840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Analytics &amp; Recommendation Engine </a:t>
            </a:r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3884325" y="923050"/>
            <a:ext cx="1858500" cy="24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Analytics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Investor Cohort Analysis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SIP Continuity Analysis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Portfolio Concentration (HHI)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Fund Recommendation Engine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31400" y="971375"/>
            <a:ext cx="26334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Recommendations were generated using risk grades and Sharpe Ratios to support investor suitability.</a:t>
            </a:r>
            <a:endParaRPr sz="1100"/>
          </a:p>
        </p:txBody>
      </p:sp>
      <p:pic>
        <p:nvPicPr>
          <p:cNvPr id="218" name="Google Shape;218;p22" title="Screenshot 2026-06-12 1746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050" y="881075"/>
            <a:ext cx="3013173" cy="28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title="Screenshot 2026-06-12 1744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50" y="2397175"/>
            <a:ext cx="29146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title="Screenshot 2026-06-12 0125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550" y="3759250"/>
            <a:ext cx="8594925" cy="11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757025" y="348650"/>
            <a:ext cx="40119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Showcase  </a:t>
            </a:r>
            <a:endParaRPr/>
          </a:p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757025" y="948500"/>
            <a:ext cx="17067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Power BI Dashboard </a:t>
            </a:r>
            <a:endParaRPr b="1" sz="1400"/>
          </a:p>
        </p:txBody>
      </p:sp>
      <p:sp>
        <p:nvSpPr>
          <p:cNvPr id="227" name="Google Shape;227;p23"/>
          <p:cNvSpPr txBox="1"/>
          <p:nvPr/>
        </p:nvSpPr>
        <p:spPr>
          <a:xfrm>
            <a:off x="819150" y="1364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Overview Dashboard </a:t>
            </a:r>
            <a:endParaRPr/>
          </a:p>
        </p:txBody>
      </p:sp>
      <p:pic>
        <p:nvPicPr>
          <p:cNvPr id="228" name="Google Shape;228;p23" title="Screenshot (1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00" y="1820875"/>
            <a:ext cx="4011902" cy="21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224500" y="1364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Investor Analytics Dashboard </a:t>
            </a:r>
            <a:endParaRPr/>
          </a:p>
        </p:txBody>
      </p:sp>
      <p:pic>
        <p:nvPicPr>
          <p:cNvPr id="230" name="Google Shape;230;p23" title="Screenshot (125).png"/>
          <p:cNvPicPr preferRelativeResize="0"/>
          <p:nvPr/>
        </p:nvPicPr>
        <p:blipFill rotWithShape="1">
          <a:blip r:embed="rId4">
            <a:alphaModFix/>
          </a:blip>
          <a:srcRect b="6324" l="0" r="24001" t="18386"/>
          <a:stretch/>
        </p:blipFill>
        <p:spPr>
          <a:xfrm>
            <a:off x="4976125" y="1820875"/>
            <a:ext cx="3861701" cy="21377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819150" y="3851350"/>
            <a:ext cx="19713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Features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Interactive Filters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• Dynamic Analysis</a:t>
            </a:r>
            <a:endParaRPr sz="1100"/>
          </a:p>
        </p:txBody>
      </p:sp>
      <p:sp>
        <p:nvSpPr>
          <p:cNvPr id="232" name="Google Shape;232;p23"/>
          <p:cNvSpPr txBox="1"/>
          <p:nvPr/>
        </p:nvSpPr>
        <p:spPr>
          <a:xfrm>
            <a:off x="3072000" y="4306150"/>
            <a:ext cx="30000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• Investor Insights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• Performance Monitoring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title="Screenshot (124).png"/>
          <p:cNvPicPr preferRelativeResize="0"/>
          <p:nvPr/>
        </p:nvPicPr>
        <p:blipFill rotWithShape="1">
          <a:blip r:embed="rId3">
            <a:alphaModFix/>
          </a:blip>
          <a:srcRect b="6306" l="0" r="26384" t="18353"/>
          <a:stretch/>
        </p:blipFill>
        <p:spPr>
          <a:xfrm>
            <a:off x="637350" y="901975"/>
            <a:ext cx="4045502" cy="23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title="Screenshot (126).png"/>
          <p:cNvPicPr preferRelativeResize="0"/>
          <p:nvPr/>
        </p:nvPicPr>
        <p:blipFill rotWithShape="1">
          <a:blip r:embed="rId4">
            <a:alphaModFix/>
          </a:blip>
          <a:srcRect b="6986" l="0" r="25340" t="18214"/>
          <a:stretch/>
        </p:blipFill>
        <p:spPr>
          <a:xfrm>
            <a:off x="4919350" y="901975"/>
            <a:ext cx="3942902" cy="231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4961375" y="433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Risk Analytics Dashboard 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37350" y="433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Fund Flow Dashboard 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637350" y="3333750"/>
            <a:ext cx="21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Fund Detail Dashboard </a:t>
            </a:r>
            <a:endParaRPr/>
          </a:p>
        </p:txBody>
      </p:sp>
      <p:pic>
        <p:nvPicPr>
          <p:cNvPr id="242" name="Google Shape;242;p24" title="Screenshot (127).png"/>
          <p:cNvPicPr preferRelativeResize="0"/>
          <p:nvPr/>
        </p:nvPicPr>
        <p:blipFill rotWithShape="1">
          <a:blip r:embed="rId5">
            <a:alphaModFix/>
          </a:blip>
          <a:srcRect b="32515" l="0" r="28597" t="0"/>
          <a:stretch/>
        </p:blipFill>
        <p:spPr>
          <a:xfrm>
            <a:off x="2885050" y="3333750"/>
            <a:ext cx="3459824" cy="15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6753125" y="3288800"/>
            <a:ext cx="17007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500"/>
              <a:t>Features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• Drill-through Analysis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• Risk Evaluation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• Fund Comparison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/>
              <a:t>• Category Insights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819150" y="412025"/>
            <a:ext cx="27144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</p:txBody>
      </p:sp>
      <p:sp>
        <p:nvSpPr>
          <p:cNvPr id="249" name="Google Shape;249;p25"/>
          <p:cNvSpPr txBox="1"/>
          <p:nvPr>
            <p:ph idx="1" type="body"/>
          </p:nvPr>
        </p:nvSpPr>
        <p:spPr>
          <a:xfrm>
            <a:off x="884850" y="1047500"/>
            <a:ext cx="75057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Equity funds delivered the strongest long-term performance.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SIP investments remained the dominant investment channel.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Risk-adjusted returns varied significantly across schemes.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Several funds outperformed benchmark returns.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Portfolio concentration differed across equity funds.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Recommendation engine supported informed investment decisions.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title"/>
          </p:nvPr>
        </p:nvSpPr>
        <p:spPr>
          <a:xfrm>
            <a:off x="2635025" y="1128100"/>
            <a:ext cx="3560400" cy="25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Thank You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